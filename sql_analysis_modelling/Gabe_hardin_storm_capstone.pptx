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1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7195"/>
    <a:srgbClr val="6476B8"/>
    <a:srgbClr val="2A38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910" y="1182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C9164B-A5D4-484F-9AD5-F54DB2384092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28E581D-D58E-415B-955F-616F1C7297BC}">
      <dgm:prSet/>
      <dgm:spPr/>
      <dgm:t>
        <a:bodyPr/>
        <a:lstStyle/>
        <a:p>
          <a:r>
            <a:rPr lang="en-US"/>
            <a:t>Gathering data from NOAA Storm Events Database</a:t>
          </a:r>
        </a:p>
      </dgm:t>
    </dgm:pt>
    <dgm:pt modelId="{0F810DC1-1E09-4330-9920-DB61EE01B308}" type="parTrans" cxnId="{F17387E6-5B36-447C-B60E-646E2A0B5939}">
      <dgm:prSet/>
      <dgm:spPr/>
      <dgm:t>
        <a:bodyPr/>
        <a:lstStyle/>
        <a:p>
          <a:endParaRPr lang="en-US"/>
        </a:p>
      </dgm:t>
    </dgm:pt>
    <dgm:pt modelId="{957BC1EF-7F13-46B9-BE8E-38A923BB7757}" type="sibTrans" cxnId="{F17387E6-5B36-447C-B60E-646E2A0B5939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19B28CC8-62F4-4A50-B11B-CC2506FE39F2}">
      <dgm:prSet/>
      <dgm:spPr/>
      <dgm:t>
        <a:bodyPr/>
        <a:lstStyle/>
        <a:p>
          <a:r>
            <a:rPr lang="en-US"/>
            <a:t>Joining and cleaning data from CSVs in Python</a:t>
          </a:r>
        </a:p>
      </dgm:t>
    </dgm:pt>
    <dgm:pt modelId="{D3CA6AF2-269A-4836-BC63-35E28DAA7026}" type="parTrans" cxnId="{F8E544ED-63E9-4A21-A08D-B6C071A04966}">
      <dgm:prSet/>
      <dgm:spPr/>
      <dgm:t>
        <a:bodyPr/>
        <a:lstStyle/>
        <a:p>
          <a:endParaRPr lang="en-US"/>
        </a:p>
      </dgm:t>
    </dgm:pt>
    <dgm:pt modelId="{EA6F1E96-F1D7-4848-BE8E-E113758FB21C}" type="sibTrans" cxnId="{F8E544ED-63E9-4A21-A08D-B6C071A04966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8FAB04C0-32AB-473B-ADCB-06316204BC9C}">
      <dgm:prSet/>
      <dgm:spPr/>
      <dgm:t>
        <a:bodyPr/>
        <a:lstStyle/>
        <a:p>
          <a:r>
            <a:rPr lang="en-US"/>
            <a:t>Using Regex to extract damage metrics from text data</a:t>
          </a:r>
        </a:p>
      </dgm:t>
    </dgm:pt>
    <dgm:pt modelId="{8E08BD20-0ECF-49BB-8177-20905674D98B}" type="parTrans" cxnId="{0574182A-39E4-4F04-98FE-664E385AB565}">
      <dgm:prSet/>
      <dgm:spPr/>
      <dgm:t>
        <a:bodyPr/>
        <a:lstStyle/>
        <a:p>
          <a:endParaRPr lang="en-US"/>
        </a:p>
      </dgm:t>
    </dgm:pt>
    <dgm:pt modelId="{140CB7DC-B412-4A6A-89E3-F3A2483F6266}" type="sibTrans" cxnId="{0574182A-39E4-4F04-98FE-664E385AB565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553BC18B-22E5-4DA3-8C1D-4C666445DF56}">
      <dgm:prSet/>
      <dgm:spPr/>
      <dgm:t>
        <a:bodyPr/>
        <a:lstStyle/>
        <a:p>
          <a:r>
            <a:rPr lang="en-US"/>
            <a:t>Creating and modeling data tables in SQL</a:t>
          </a:r>
        </a:p>
      </dgm:t>
    </dgm:pt>
    <dgm:pt modelId="{343CD0A3-66A3-4EFC-9F7B-24D8D1B56F18}" type="parTrans" cxnId="{BFECEACA-9D38-4594-B997-7196686AF5C9}">
      <dgm:prSet/>
      <dgm:spPr/>
      <dgm:t>
        <a:bodyPr/>
        <a:lstStyle/>
        <a:p>
          <a:endParaRPr lang="en-US"/>
        </a:p>
      </dgm:t>
    </dgm:pt>
    <dgm:pt modelId="{172AA8CE-1996-4220-A39F-F4A68F45063E}" type="sibTrans" cxnId="{BFECEACA-9D38-4594-B997-7196686AF5C9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5F3EEC62-3867-4489-A23F-FB38997E3524}">
      <dgm:prSet/>
      <dgm:spPr/>
      <dgm:t>
        <a:bodyPr/>
        <a:lstStyle/>
        <a:p>
          <a:r>
            <a:rPr lang="en-US"/>
            <a:t>Visualizing data in Power Bi</a:t>
          </a:r>
        </a:p>
      </dgm:t>
    </dgm:pt>
    <dgm:pt modelId="{04C064D4-3F0E-4713-BDDC-80D71EA1194E}" type="parTrans" cxnId="{B3FABED0-A0B0-4C52-947E-11E39AA66FB6}">
      <dgm:prSet/>
      <dgm:spPr/>
      <dgm:t>
        <a:bodyPr/>
        <a:lstStyle/>
        <a:p>
          <a:endParaRPr lang="en-US"/>
        </a:p>
      </dgm:t>
    </dgm:pt>
    <dgm:pt modelId="{667C4D19-48BD-4A54-ABA1-07E28BEB7C03}" type="sibTrans" cxnId="{B3FABED0-A0B0-4C52-947E-11E39AA66FB6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4B0324C0-7E45-4431-9B61-AC8706354AA0}" type="pres">
      <dgm:prSet presAssocID="{45C9164B-A5D4-484F-9AD5-F54DB2384092}" presName="Name0" presStyleCnt="0">
        <dgm:presLayoutVars>
          <dgm:animLvl val="lvl"/>
          <dgm:resizeHandles val="exact"/>
        </dgm:presLayoutVars>
      </dgm:prSet>
      <dgm:spPr/>
    </dgm:pt>
    <dgm:pt modelId="{1C2B6E61-5BCF-46AE-9E11-2C4363D992BE}" type="pres">
      <dgm:prSet presAssocID="{328E581D-D58E-415B-955F-616F1C7297BC}" presName="compositeNode" presStyleCnt="0">
        <dgm:presLayoutVars>
          <dgm:bulletEnabled val="1"/>
        </dgm:presLayoutVars>
      </dgm:prSet>
      <dgm:spPr/>
    </dgm:pt>
    <dgm:pt modelId="{F0409F9B-D192-45B7-A51C-8F940E6DABAE}" type="pres">
      <dgm:prSet presAssocID="{328E581D-D58E-415B-955F-616F1C7297BC}" presName="bgRect" presStyleLbl="bgAccFollowNode1" presStyleIdx="0" presStyleCnt="5"/>
      <dgm:spPr/>
    </dgm:pt>
    <dgm:pt modelId="{51E91F73-E2D7-4130-B69D-76D8B719679C}" type="pres">
      <dgm:prSet presAssocID="{957BC1EF-7F13-46B9-BE8E-38A923BB7757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8477B33D-E2C0-4126-AF57-D7B069167076}" type="pres">
      <dgm:prSet presAssocID="{328E581D-D58E-415B-955F-616F1C7297BC}" presName="bottomLine" presStyleLbl="alignNode1" presStyleIdx="1" presStyleCnt="10">
        <dgm:presLayoutVars/>
      </dgm:prSet>
      <dgm:spPr/>
    </dgm:pt>
    <dgm:pt modelId="{346F0AB4-B698-4B1C-8AFD-A5898EB9133C}" type="pres">
      <dgm:prSet presAssocID="{328E581D-D58E-415B-955F-616F1C7297BC}" presName="nodeText" presStyleLbl="bgAccFollowNode1" presStyleIdx="0" presStyleCnt="5">
        <dgm:presLayoutVars>
          <dgm:bulletEnabled val="1"/>
        </dgm:presLayoutVars>
      </dgm:prSet>
      <dgm:spPr/>
    </dgm:pt>
    <dgm:pt modelId="{EA41BA4E-DFA6-414D-955F-173CC36A3200}" type="pres">
      <dgm:prSet presAssocID="{957BC1EF-7F13-46B9-BE8E-38A923BB7757}" presName="sibTrans" presStyleCnt="0"/>
      <dgm:spPr/>
    </dgm:pt>
    <dgm:pt modelId="{14D74535-1888-4C62-9978-E879EBD96F34}" type="pres">
      <dgm:prSet presAssocID="{19B28CC8-62F4-4A50-B11B-CC2506FE39F2}" presName="compositeNode" presStyleCnt="0">
        <dgm:presLayoutVars>
          <dgm:bulletEnabled val="1"/>
        </dgm:presLayoutVars>
      </dgm:prSet>
      <dgm:spPr/>
    </dgm:pt>
    <dgm:pt modelId="{52313261-EAA1-40EA-B1AB-829A8BC205F4}" type="pres">
      <dgm:prSet presAssocID="{19B28CC8-62F4-4A50-B11B-CC2506FE39F2}" presName="bgRect" presStyleLbl="bgAccFollowNode1" presStyleIdx="1" presStyleCnt="5"/>
      <dgm:spPr/>
    </dgm:pt>
    <dgm:pt modelId="{A29506CC-B126-48B1-A6E3-202F43029EF0}" type="pres">
      <dgm:prSet presAssocID="{EA6F1E96-F1D7-4848-BE8E-E113758FB21C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600FB77C-1CC5-44BA-9F11-B51FA798FE2B}" type="pres">
      <dgm:prSet presAssocID="{19B28CC8-62F4-4A50-B11B-CC2506FE39F2}" presName="bottomLine" presStyleLbl="alignNode1" presStyleIdx="3" presStyleCnt="10">
        <dgm:presLayoutVars/>
      </dgm:prSet>
      <dgm:spPr/>
    </dgm:pt>
    <dgm:pt modelId="{333D0905-3371-49B6-BDFB-F1936C230E05}" type="pres">
      <dgm:prSet presAssocID="{19B28CC8-62F4-4A50-B11B-CC2506FE39F2}" presName="nodeText" presStyleLbl="bgAccFollowNode1" presStyleIdx="1" presStyleCnt="5">
        <dgm:presLayoutVars>
          <dgm:bulletEnabled val="1"/>
        </dgm:presLayoutVars>
      </dgm:prSet>
      <dgm:spPr/>
    </dgm:pt>
    <dgm:pt modelId="{916B4570-DEDD-47B0-B19D-080648B0153C}" type="pres">
      <dgm:prSet presAssocID="{EA6F1E96-F1D7-4848-BE8E-E113758FB21C}" presName="sibTrans" presStyleCnt="0"/>
      <dgm:spPr/>
    </dgm:pt>
    <dgm:pt modelId="{E004394C-A10A-4B5F-B010-A92E3C0D4E76}" type="pres">
      <dgm:prSet presAssocID="{8FAB04C0-32AB-473B-ADCB-06316204BC9C}" presName="compositeNode" presStyleCnt="0">
        <dgm:presLayoutVars>
          <dgm:bulletEnabled val="1"/>
        </dgm:presLayoutVars>
      </dgm:prSet>
      <dgm:spPr/>
    </dgm:pt>
    <dgm:pt modelId="{80329007-3DDB-4114-A293-328FC0909721}" type="pres">
      <dgm:prSet presAssocID="{8FAB04C0-32AB-473B-ADCB-06316204BC9C}" presName="bgRect" presStyleLbl="bgAccFollowNode1" presStyleIdx="2" presStyleCnt="5"/>
      <dgm:spPr/>
    </dgm:pt>
    <dgm:pt modelId="{7A7C4C02-5D3B-44BC-8385-AD56A8648889}" type="pres">
      <dgm:prSet presAssocID="{140CB7DC-B412-4A6A-89E3-F3A2483F6266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5C372C97-320A-4A0C-B326-A6B612739F9E}" type="pres">
      <dgm:prSet presAssocID="{8FAB04C0-32AB-473B-ADCB-06316204BC9C}" presName="bottomLine" presStyleLbl="alignNode1" presStyleIdx="5" presStyleCnt="10">
        <dgm:presLayoutVars/>
      </dgm:prSet>
      <dgm:spPr/>
    </dgm:pt>
    <dgm:pt modelId="{3E31BF41-7D84-4435-9B39-70113017383E}" type="pres">
      <dgm:prSet presAssocID="{8FAB04C0-32AB-473B-ADCB-06316204BC9C}" presName="nodeText" presStyleLbl="bgAccFollowNode1" presStyleIdx="2" presStyleCnt="5">
        <dgm:presLayoutVars>
          <dgm:bulletEnabled val="1"/>
        </dgm:presLayoutVars>
      </dgm:prSet>
      <dgm:spPr/>
    </dgm:pt>
    <dgm:pt modelId="{8436E68B-C305-442F-9E6F-859311587FDD}" type="pres">
      <dgm:prSet presAssocID="{140CB7DC-B412-4A6A-89E3-F3A2483F6266}" presName="sibTrans" presStyleCnt="0"/>
      <dgm:spPr/>
    </dgm:pt>
    <dgm:pt modelId="{DF13DB13-AA04-47BB-84D6-95F386CDA7E9}" type="pres">
      <dgm:prSet presAssocID="{553BC18B-22E5-4DA3-8C1D-4C666445DF56}" presName="compositeNode" presStyleCnt="0">
        <dgm:presLayoutVars>
          <dgm:bulletEnabled val="1"/>
        </dgm:presLayoutVars>
      </dgm:prSet>
      <dgm:spPr/>
    </dgm:pt>
    <dgm:pt modelId="{F945518B-DDCD-4125-9E69-C51F85C92AF0}" type="pres">
      <dgm:prSet presAssocID="{553BC18B-22E5-4DA3-8C1D-4C666445DF56}" presName="bgRect" presStyleLbl="bgAccFollowNode1" presStyleIdx="3" presStyleCnt="5"/>
      <dgm:spPr/>
    </dgm:pt>
    <dgm:pt modelId="{038EB893-D33B-4E57-A290-9E2044DFDC47}" type="pres">
      <dgm:prSet presAssocID="{172AA8CE-1996-4220-A39F-F4A68F45063E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D6E6ED12-E651-493A-BECE-F339C3F36549}" type="pres">
      <dgm:prSet presAssocID="{553BC18B-22E5-4DA3-8C1D-4C666445DF56}" presName="bottomLine" presStyleLbl="alignNode1" presStyleIdx="7" presStyleCnt="10">
        <dgm:presLayoutVars/>
      </dgm:prSet>
      <dgm:spPr/>
    </dgm:pt>
    <dgm:pt modelId="{8E549829-3E07-40FA-AB5F-54961EBAE12E}" type="pres">
      <dgm:prSet presAssocID="{553BC18B-22E5-4DA3-8C1D-4C666445DF56}" presName="nodeText" presStyleLbl="bgAccFollowNode1" presStyleIdx="3" presStyleCnt="5">
        <dgm:presLayoutVars>
          <dgm:bulletEnabled val="1"/>
        </dgm:presLayoutVars>
      </dgm:prSet>
      <dgm:spPr/>
    </dgm:pt>
    <dgm:pt modelId="{C9BD9528-1C3C-4D44-AF05-BCC06C5B329F}" type="pres">
      <dgm:prSet presAssocID="{172AA8CE-1996-4220-A39F-F4A68F45063E}" presName="sibTrans" presStyleCnt="0"/>
      <dgm:spPr/>
    </dgm:pt>
    <dgm:pt modelId="{AB117A00-8AF0-4350-9B7D-D5134008501C}" type="pres">
      <dgm:prSet presAssocID="{5F3EEC62-3867-4489-A23F-FB38997E3524}" presName="compositeNode" presStyleCnt="0">
        <dgm:presLayoutVars>
          <dgm:bulletEnabled val="1"/>
        </dgm:presLayoutVars>
      </dgm:prSet>
      <dgm:spPr/>
    </dgm:pt>
    <dgm:pt modelId="{F9295E4F-917D-46ED-AEB6-0354398BE447}" type="pres">
      <dgm:prSet presAssocID="{5F3EEC62-3867-4489-A23F-FB38997E3524}" presName="bgRect" presStyleLbl="bgAccFollowNode1" presStyleIdx="4" presStyleCnt="5"/>
      <dgm:spPr/>
    </dgm:pt>
    <dgm:pt modelId="{E521425E-F591-4513-B931-223146B977A4}" type="pres">
      <dgm:prSet presAssocID="{667C4D19-48BD-4A54-ABA1-07E28BEB7C03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653BF5BF-589A-4845-8031-CF6AB818BBCC}" type="pres">
      <dgm:prSet presAssocID="{5F3EEC62-3867-4489-A23F-FB38997E3524}" presName="bottomLine" presStyleLbl="alignNode1" presStyleIdx="9" presStyleCnt="10">
        <dgm:presLayoutVars/>
      </dgm:prSet>
      <dgm:spPr/>
    </dgm:pt>
    <dgm:pt modelId="{56C0516E-AFB2-4CA0-BAE7-CFB4284964F4}" type="pres">
      <dgm:prSet presAssocID="{5F3EEC62-3867-4489-A23F-FB38997E3524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B1314C17-F45A-4AF3-953F-698B989A61FD}" type="presOf" srcId="{553BC18B-22E5-4DA3-8C1D-4C666445DF56}" destId="{F945518B-DDCD-4125-9E69-C51F85C92AF0}" srcOrd="0" destOrd="0" presId="urn:microsoft.com/office/officeart/2016/7/layout/BasicLinearProcessNumbered"/>
    <dgm:cxn modelId="{0707AA21-204D-46CC-8D85-A1B3F121970F}" type="presOf" srcId="{8FAB04C0-32AB-473B-ADCB-06316204BC9C}" destId="{3E31BF41-7D84-4435-9B39-70113017383E}" srcOrd="1" destOrd="0" presId="urn:microsoft.com/office/officeart/2016/7/layout/BasicLinearProcessNumbered"/>
    <dgm:cxn modelId="{0574182A-39E4-4F04-98FE-664E385AB565}" srcId="{45C9164B-A5D4-484F-9AD5-F54DB2384092}" destId="{8FAB04C0-32AB-473B-ADCB-06316204BC9C}" srcOrd="2" destOrd="0" parTransId="{8E08BD20-0ECF-49BB-8177-20905674D98B}" sibTransId="{140CB7DC-B412-4A6A-89E3-F3A2483F6266}"/>
    <dgm:cxn modelId="{46FD952D-E8C0-4689-B9FE-AF02DA4B1A20}" type="presOf" srcId="{140CB7DC-B412-4A6A-89E3-F3A2483F6266}" destId="{7A7C4C02-5D3B-44BC-8385-AD56A8648889}" srcOrd="0" destOrd="0" presId="urn:microsoft.com/office/officeart/2016/7/layout/BasicLinearProcessNumbered"/>
    <dgm:cxn modelId="{D69C8136-53E4-46B4-8F12-F2A5C255E604}" type="presOf" srcId="{328E581D-D58E-415B-955F-616F1C7297BC}" destId="{F0409F9B-D192-45B7-A51C-8F940E6DABAE}" srcOrd="0" destOrd="0" presId="urn:microsoft.com/office/officeart/2016/7/layout/BasicLinearProcessNumbered"/>
    <dgm:cxn modelId="{B35D9140-4CA2-4178-A89E-6FDC266588B1}" type="presOf" srcId="{45C9164B-A5D4-484F-9AD5-F54DB2384092}" destId="{4B0324C0-7E45-4431-9B61-AC8706354AA0}" srcOrd="0" destOrd="0" presId="urn:microsoft.com/office/officeart/2016/7/layout/BasicLinearProcessNumbered"/>
    <dgm:cxn modelId="{BAC52466-AA58-49E9-B48A-D372AA960BFB}" type="presOf" srcId="{328E581D-D58E-415B-955F-616F1C7297BC}" destId="{346F0AB4-B698-4B1C-8AFD-A5898EB9133C}" srcOrd="1" destOrd="0" presId="urn:microsoft.com/office/officeart/2016/7/layout/BasicLinearProcessNumbered"/>
    <dgm:cxn modelId="{20AB456A-C0FD-4298-8563-26CE5E7F028D}" type="presOf" srcId="{172AA8CE-1996-4220-A39F-F4A68F45063E}" destId="{038EB893-D33B-4E57-A290-9E2044DFDC47}" srcOrd="0" destOrd="0" presId="urn:microsoft.com/office/officeart/2016/7/layout/BasicLinearProcessNumbered"/>
    <dgm:cxn modelId="{1A40F952-0AA4-4556-9521-6A8168D8055B}" type="presOf" srcId="{957BC1EF-7F13-46B9-BE8E-38A923BB7757}" destId="{51E91F73-E2D7-4130-B69D-76D8B719679C}" srcOrd="0" destOrd="0" presId="urn:microsoft.com/office/officeart/2016/7/layout/BasicLinearProcessNumbered"/>
    <dgm:cxn modelId="{3EB29A73-8FA8-47D1-AF36-5D02558F9886}" type="presOf" srcId="{5F3EEC62-3867-4489-A23F-FB38997E3524}" destId="{F9295E4F-917D-46ED-AEB6-0354398BE447}" srcOrd="0" destOrd="0" presId="urn:microsoft.com/office/officeart/2016/7/layout/BasicLinearProcessNumbered"/>
    <dgm:cxn modelId="{AE927857-D697-4840-9E6F-1602A4BF0C36}" type="presOf" srcId="{8FAB04C0-32AB-473B-ADCB-06316204BC9C}" destId="{80329007-3DDB-4114-A293-328FC0909721}" srcOrd="0" destOrd="0" presId="urn:microsoft.com/office/officeart/2016/7/layout/BasicLinearProcessNumbered"/>
    <dgm:cxn modelId="{CB7DEF7B-A3DD-47EC-95A4-92097A9437BB}" type="presOf" srcId="{553BC18B-22E5-4DA3-8C1D-4C666445DF56}" destId="{8E549829-3E07-40FA-AB5F-54961EBAE12E}" srcOrd="1" destOrd="0" presId="urn:microsoft.com/office/officeart/2016/7/layout/BasicLinearProcessNumbered"/>
    <dgm:cxn modelId="{8AFFB99C-6EF9-4921-ACEB-CF47A3CE907C}" type="presOf" srcId="{5F3EEC62-3867-4489-A23F-FB38997E3524}" destId="{56C0516E-AFB2-4CA0-BAE7-CFB4284964F4}" srcOrd="1" destOrd="0" presId="urn:microsoft.com/office/officeart/2016/7/layout/BasicLinearProcessNumbered"/>
    <dgm:cxn modelId="{163CB0B3-50CC-477F-B2CB-D5286C61E089}" type="presOf" srcId="{19B28CC8-62F4-4A50-B11B-CC2506FE39F2}" destId="{52313261-EAA1-40EA-B1AB-829A8BC205F4}" srcOrd="0" destOrd="0" presId="urn:microsoft.com/office/officeart/2016/7/layout/BasicLinearProcessNumbered"/>
    <dgm:cxn modelId="{740895B5-8863-4D06-902B-8E834034452C}" type="presOf" srcId="{EA6F1E96-F1D7-4848-BE8E-E113758FB21C}" destId="{A29506CC-B126-48B1-A6E3-202F43029EF0}" srcOrd="0" destOrd="0" presId="urn:microsoft.com/office/officeart/2016/7/layout/BasicLinearProcessNumbered"/>
    <dgm:cxn modelId="{BFECEACA-9D38-4594-B997-7196686AF5C9}" srcId="{45C9164B-A5D4-484F-9AD5-F54DB2384092}" destId="{553BC18B-22E5-4DA3-8C1D-4C666445DF56}" srcOrd="3" destOrd="0" parTransId="{343CD0A3-66A3-4EFC-9F7B-24D8D1B56F18}" sibTransId="{172AA8CE-1996-4220-A39F-F4A68F45063E}"/>
    <dgm:cxn modelId="{B3FABED0-A0B0-4C52-947E-11E39AA66FB6}" srcId="{45C9164B-A5D4-484F-9AD5-F54DB2384092}" destId="{5F3EEC62-3867-4489-A23F-FB38997E3524}" srcOrd="4" destOrd="0" parTransId="{04C064D4-3F0E-4713-BDDC-80D71EA1194E}" sibTransId="{667C4D19-48BD-4A54-ABA1-07E28BEB7C03}"/>
    <dgm:cxn modelId="{779DBFE3-BC24-4D79-B1CB-8B3C8699EE73}" type="presOf" srcId="{19B28CC8-62F4-4A50-B11B-CC2506FE39F2}" destId="{333D0905-3371-49B6-BDFB-F1936C230E05}" srcOrd="1" destOrd="0" presId="urn:microsoft.com/office/officeart/2016/7/layout/BasicLinearProcessNumbered"/>
    <dgm:cxn modelId="{F17387E6-5B36-447C-B60E-646E2A0B5939}" srcId="{45C9164B-A5D4-484F-9AD5-F54DB2384092}" destId="{328E581D-D58E-415B-955F-616F1C7297BC}" srcOrd="0" destOrd="0" parTransId="{0F810DC1-1E09-4330-9920-DB61EE01B308}" sibTransId="{957BC1EF-7F13-46B9-BE8E-38A923BB7757}"/>
    <dgm:cxn modelId="{F8E544ED-63E9-4A21-A08D-B6C071A04966}" srcId="{45C9164B-A5D4-484F-9AD5-F54DB2384092}" destId="{19B28CC8-62F4-4A50-B11B-CC2506FE39F2}" srcOrd="1" destOrd="0" parTransId="{D3CA6AF2-269A-4836-BC63-35E28DAA7026}" sibTransId="{EA6F1E96-F1D7-4848-BE8E-E113758FB21C}"/>
    <dgm:cxn modelId="{6FD4F3EF-0267-4A65-B17C-7DD0E5BE71E9}" type="presOf" srcId="{667C4D19-48BD-4A54-ABA1-07E28BEB7C03}" destId="{E521425E-F591-4513-B931-223146B977A4}" srcOrd="0" destOrd="0" presId="urn:microsoft.com/office/officeart/2016/7/layout/BasicLinearProcessNumbered"/>
    <dgm:cxn modelId="{EB1C24B9-4C4A-4FE4-A0DE-E30BEC8F0C91}" type="presParOf" srcId="{4B0324C0-7E45-4431-9B61-AC8706354AA0}" destId="{1C2B6E61-5BCF-46AE-9E11-2C4363D992BE}" srcOrd="0" destOrd="0" presId="urn:microsoft.com/office/officeart/2016/7/layout/BasicLinearProcessNumbered"/>
    <dgm:cxn modelId="{05166E30-F3B6-4E2C-B3DA-2790A534EE8E}" type="presParOf" srcId="{1C2B6E61-5BCF-46AE-9E11-2C4363D992BE}" destId="{F0409F9B-D192-45B7-A51C-8F940E6DABAE}" srcOrd="0" destOrd="0" presId="urn:microsoft.com/office/officeart/2016/7/layout/BasicLinearProcessNumbered"/>
    <dgm:cxn modelId="{BC95CC9F-F2F8-4AF0-9B25-2579657D77EA}" type="presParOf" srcId="{1C2B6E61-5BCF-46AE-9E11-2C4363D992BE}" destId="{51E91F73-E2D7-4130-B69D-76D8B719679C}" srcOrd="1" destOrd="0" presId="urn:microsoft.com/office/officeart/2016/7/layout/BasicLinearProcessNumbered"/>
    <dgm:cxn modelId="{DD8451CD-A327-424B-A0A9-087F4931C511}" type="presParOf" srcId="{1C2B6E61-5BCF-46AE-9E11-2C4363D992BE}" destId="{8477B33D-E2C0-4126-AF57-D7B069167076}" srcOrd="2" destOrd="0" presId="urn:microsoft.com/office/officeart/2016/7/layout/BasicLinearProcessNumbered"/>
    <dgm:cxn modelId="{41B3CD0A-E7B2-4796-96CD-05086C031561}" type="presParOf" srcId="{1C2B6E61-5BCF-46AE-9E11-2C4363D992BE}" destId="{346F0AB4-B698-4B1C-8AFD-A5898EB9133C}" srcOrd="3" destOrd="0" presId="urn:microsoft.com/office/officeart/2016/7/layout/BasicLinearProcessNumbered"/>
    <dgm:cxn modelId="{3E6D657A-5B93-456B-B25F-B7804D521034}" type="presParOf" srcId="{4B0324C0-7E45-4431-9B61-AC8706354AA0}" destId="{EA41BA4E-DFA6-414D-955F-173CC36A3200}" srcOrd="1" destOrd="0" presId="urn:microsoft.com/office/officeart/2016/7/layout/BasicLinearProcessNumbered"/>
    <dgm:cxn modelId="{AF896316-7B4B-4763-A643-472F2AE46634}" type="presParOf" srcId="{4B0324C0-7E45-4431-9B61-AC8706354AA0}" destId="{14D74535-1888-4C62-9978-E879EBD96F34}" srcOrd="2" destOrd="0" presId="urn:microsoft.com/office/officeart/2016/7/layout/BasicLinearProcessNumbered"/>
    <dgm:cxn modelId="{660ACA9D-1276-4DFF-97AD-DD6DEA2F2DE4}" type="presParOf" srcId="{14D74535-1888-4C62-9978-E879EBD96F34}" destId="{52313261-EAA1-40EA-B1AB-829A8BC205F4}" srcOrd="0" destOrd="0" presId="urn:microsoft.com/office/officeart/2016/7/layout/BasicLinearProcessNumbered"/>
    <dgm:cxn modelId="{C4F8856F-15EC-426D-BAC2-831B844E6120}" type="presParOf" srcId="{14D74535-1888-4C62-9978-E879EBD96F34}" destId="{A29506CC-B126-48B1-A6E3-202F43029EF0}" srcOrd="1" destOrd="0" presId="urn:microsoft.com/office/officeart/2016/7/layout/BasicLinearProcessNumbered"/>
    <dgm:cxn modelId="{58581E25-EF9D-4A22-BBEE-DEB742C5C7DB}" type="presParOf" srcId="{14D74535-1888-4C62-9978-E879EBD96F34}" destId="{600FB77C-1CC5-44BA-9F11-B51FA798FE2B}" srcOrd="2" destOrd="0" presId="urn:microsoft.com/office/officeart/2016/7/layout/BasicLinearProcessNumbered"/>
    <dgm:cxn modelId="{A34C2FF3-2514-47B6-A916-220D7335E11A}" type="presParOf" srcId="{14D74535-1888-4C62-9978-E879EBD96F34}" destId="{333D0905-3371-49B6-BDFB-F1936C230E05}" srcOrd="3" destOrd="0" presId="urn:microsoft.com/office/officeart/2016/7/layout/BasicLinearProcessNumbered"/>
    <dgm:cxn modelId="{1A0A64D3-00EC-4810-9667-BDBBD3627B02}" type="presParOf" srcId="{4B0324C0-7E45-4431-9B61-AC8706354AA0}" destId="{916B4570-DEDD-47B0-B19D-080648B0153C}" srcOrd="3" destOrd="0" presId="urn:microsoft.com/office/officeart/2016/7/layout/BasicLinearProcessNumbered"/>
    <dgm:cxn modelId="{6D7C2AB6-EB9F-4786-9C81-814B56A3E3AF}" type="presParOf" srcId="{4B0324C0-7E45-4431-9B61-AC8706354AA0}" destId="{E004394C-A10A-4B5F-B010-A92E3C0D4E76}" srcOrd="4" destOrd="0" presId="urn:microsoft.com/office/officeart/2016/7/layout/BasicLinearProcessNumbered"/>
    <dgm:cxn modelId="{F5E663CA-5DE7-435F-9094-2469B4B917B6}" type="presParOf" srcId="{E004394C-A10A-4B5F-B010-A92E3C0D4E76}" destId="{80329007-3DDB-4114-A293-328FC0909721}" srcOrd="0" destOrd="0" presId="urn:microsoft.com/office/officeart/2016/7/layout/BasicLinearProcessNumbered"/>
    <dgm:cxn modelId="{B395068E-F741-4BD9-A378-AECA6596B669}" type="presParOf" srcId="{E004394C-A10A-4B5F-B010-A92E3C0D4E76}" destId="{7A7C4C02-5D3B-44BC-8385-AD56A8648889}" srcOrd="1" destOrd="0" presId="urn:microsoft.com/office/officeart/2016/7/layout/BasicLinearProcessNumbered"/>
    <dgm:cxn modelId="{F91D7C3B-CEDB-4F25-BE45-24888C780391}" type="presParOf" srcId="{E004394C-A10A-4B5F-B010-A92E3C0D4E76}" destId="{5C372C97-320A-4A0C-B326-A6B612739F9E}" srcOrd="2" destOrd="0" presId="urn:microsoft.com/office/officeart/2016/7/layout/BasicLinearProcessNumbered"/>
    <dgm:cxn modelId="{631F98D2-80DC-4463-A385-B208AE540708}" type="presParOf" srcId="{E004394C-A10A-4B5F-B010-A92E3C0D4E76}" destId="{3E31BF41-7D84-4435-9B39-70113017383E}" srcOrd="3" destOrd="0" presId="urn:microsoft.com/office/officeart/2016/7/layout/BasicLinearProcessNumbered"/>
    <dgm:cxn modelId="{2AA8B147-1B24-4A49-B7AC-237E3AF84A64}" type="presParOf" srcId="{4B0324C0-7E45-4431-9B61-AC8706354AA0}" destId="{8436E68B-C305-442F-9E6F-859311587FDD}" srcOrd="5" destOrd="0" presId="urn:microsoft.com/office/officeart/2016/7/layout/BasicLinearProcessNumbered"/>
    <dgm:cxn modelId="{9450FD48-6FB6-40D0-92FC-63F118FF5335}" type="presParOf" srcId="{4B0324C0-7E45-4431-9B61-AC8706354AA0}" destId="{DF13DB13-AA04-47BB-84D6-95F386CDA7E9}" srcOrd="6" destOrd="0" presId="urn:microsoft.com/office/officeart/2016/7/layout/BasicLinearProcessNumbered"/>
    <dgm:cxn modelId="{4A18AC21-0081-414E-800B-93C4D21EF282}" type="presParOf" srcId="{DF13DB13-AA04-47BB-84D6-95F386CDA7E9}" destId="{F945518B-DDCD-4125-9E69-C51F85C92AF0}" srcOrd="0" destOrd="0" presId="urn:microsoft.com/office/officeart/2016/7/layout/BasicLinearProcessNumbered"/>
    <dgm:cxn modelId="{0C58FB6A-2193-4C13-AA6F-9BAFD57E7DAC}" type="presParOf" srcId="{DF13DB13-AA04-47BB-84D6-95F386CDA7E9}" destId="{038EB893-D33B-4E57-A290-9E2044DFDC47}" srcOrd="1" destOrd="0" presId="urn:microsoft.com/office/officeart/2016/7/layout/BasicLinearProcessNumbered"/>
    <dgm:cxn modelId="{F841DC7B-5377-4E6C-84B9-907340C68087}" type="presParOf" srcId="{DF13DB13-AA04-47BB-84D6-95F386CDA7E9}" destId="{D6E6ED12-E651-493A-BECE-F339C3F36549}" srcOrd="2" destOrd="0" presId="urn:microsoft.com/office/officeart/2016/7/layout/BasicLinearProcessNumbered"/>
    <dgm:cxn modelId="{16375AF9-8263-4443-82D0-51FBCD36279D}" type="presParOf" srcId="{DF13DB13-AA04-47BB-84D6-95F386CDA7E9}" destId="{8E549829-3E07-40FA-AB5F-54961EBAE12E}" srcOrd="3" destOrd="0" presId="urn:microsoft.com/office/officeart/2016/7/layout/BasicLinearProcessNumbered"/>
    <dgm:cxn modelId="{83303B74-FADA-4158-9261-1C573490BA2A}" type="presParOf" srcId="{4B0324C0-7E45-4431-9B61-AC8706354AA0}" destId="{C9BD9528-1C3C-4D44-AF05-BCC06C5B329F}" srcOrd="7" destOrd="0" presId="urn:microsoft.com/office/officeart/2016/7/layout/BasicLinearProcessNumbered"/>
    <dgm:cxn modelId="{547A45FD-1CD5-4CE0-AEC7-AC764E22A760}" type="presParOf" srcId="{4B0324C0-7E45-4431-9B61-AC8706354AA0}" destId="{AB117A00-8AF0-4350-9B7D-D5134008501C}" srcOrd="8" destOrd="0" presId="urn:microsoft.com/office/officeart/2016/7/layout/BasicLinearProcessNumbered"/>
    <dgm:cxn modelId="{6779C9A4-9615-4F69-B860-4F6FDC2F1894}" type="presParOf" srcId="{AB117A00-8AF0-4350-9B7D-D5134008501C}" destId="{F9295E4F-917D-46ED-AEB6-0354398BE447}" srcOrd="0" destOrd="0" presId="urn:microsoft.com/office/officeart/2016/7/layout/BasicLinearProcessNumbered"/>
    <dgm:cxn modelId="{680971BE-56CC-42B2-BA34-E8972272DFC9}" type="presParOf" srcId="{AB117A00-8AF0-4350-9B7D-D5134008501C}" destId="{E521425E-F591-4513-B931-223146B977A4}" srcOrd="1" destOrd="0" presId="urn:microsoft.com/office/officeart/2016/7/layout/BasicLinearProcessNumbered"/>
    <dgm:cxn modelId="{00AB5AD9-EC5F-4B13-9B48-F3E128596F2D}" type="presParOf" srcId="{AB117A00-8AF0-4350-9B7D-D5134008501C}" destId="{653BF5BF-589A-4845-8031-CF6AB818BBCC}" srcOrd="2" destOrd="0" presId="urn:microsoft.com/office/officeart/2016/7/layout/BasicLinearProcessNumbered"/>
    <dgm:cxn modelId="{D8CF7D61-315E-4350-B4F2-24C8510BF88A}" type="presParOf" srcId="{AB117A00-8AF0-4350-9B7D-D5134008501C}" destId="{56C0516E-AFB2-4CA0-BAE7-CFB4284964F4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409F9B-D192-45B7-A51C-8F940E6DABAE}">
      <dsp:nvSpPr>
        <dsp:cNvPr id="0" name=""/>
        <dsp:cNvSpPr/>
      </dsp:nvSpPr>
      <dsp:spPr>
        <a:xfrm>
          <a:off x="3594" y="813467"/>
          <a:ext cx="1946002" cy="272440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718" tIns="330200" rIns="151718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Gathering data from NOAA Storm Events Database</a:t>
          </a:r>
        </a:p>
      </dsp:txBody>
      <dsp:txXfrm>
        <a:off x="3594" y="1848740"/>
        <a:ext cx="1946002" cy="1634641"/>
      </dsp:txXfrm>
    </dsp:sp>
    <dsp:sp modelId="{51E91F73-E2D7-4130-B69D-76D8B719679C}">
      <dsp:nvSpPr>
        <dsp:cNvPr id="0" name=""/>
        <dsp:cNvSpPr/>
      </dsp:nvSpPr>
      <dsp:spPr>
        <a:xfrm>
          <a:off x="567934" y="1085907"/>
          <a:ext cx="817320" cy="81732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22" tIns="12700" rIns="63722" bIns="1270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1</a:t>
          </a:r>
        </a:p>
      </dsp:txBody>
      <dsp:txXfrm>
        <a:off x="687628" y="1205601"/>
        <a:ext cx="577932" cy="577932"/>
      </dsp:txXfrm>
    </dsp:sp>
    <dsp:sp modelId="{8477B33D-E2C0-4126-AF57-D7B069167076}">
      <dsp:nvSpPr>
        <dsp:cNvPr id="0" name=""/>
        <dsp:cNvSpPr/>
      </dsp:nvSpPr>
      <dsp:spPr>
        <a:xfrm>
          <a:off x="3594" y="3537798"/>
          <a:ext cx="1946002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313261-EAA1-40EA-B1AB-829A8BC205F4}">
      <dsp:nvSpPr>
        <dsp:cNvPr id="0" name=""/>
        <dsp:cNvSpPr/>
      </dsp:nvSpPr>
      <dsp:spPr>
        <a:xfrm>
          <a:off x="2144196" y="813467"/>
          <a:ext cx="1946002" cy="272440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718" tIns="330200" rIns="151718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Joining and cleaning data from CSVs in Python</a:t>
          </a:r>
        </a:p>
      </dsp:txBody>
      <dsp:txXfrm>
        <a:off x="2144196" y="1848740"/>
        <a:ext cx="1946002" cy="1634641"/>
      </dsp:txXfrm>
    </dsp:sp>
    <dsp:sp modelId="{A29506CC-B126-48B1-A6E3-202F43029EF0}">
      <dsp:nvSpPr>
        <dsp:cNvPr id="0" name=""/>
        <dsp:cNvSpPr/>
      </dsp:nvSpPr>
      <dsp:spPr>
        <a:xfrm>
          <a:off x="2708537" y="1085907"/>
          <a:ext cx="817320" cy="81732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22" tIns="12700" rIns="63722" bIns="1270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2</a:t>
          </a:r>
        </a:p>
      </dsp:txBody>
      <dsp:txXfrm>
        <a:off x="2828231" y="1205601"/>
        <a:ext cx="577932" cy="577932"/>
      </dsp:txXfrm>
    </dsp:sp>
    <dsp:sp modelId="{600FB77C-1CC5-44BA-9F11-B51FA798FE2B}">
      <dsp:nvSpPr>
        <dsp:cNvPr id="0" name=""/>
        <dsp:cNvSpPr/>
      </dsp:nvSpPr>
      <dsp:spPr>
        <a:xfrm>
          <a:off x="2144196" y="3537798"/>
          <a:ext cx="1946002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329007-3DDB-4114-A293-328FC0909721}">
      <dsp:nvSpPr>
        <dsp:cNvPr id="0" name=""/>
        <dsp:cNvSpPr/>
      </dsp:nvSpPr>
      <dsp:spPr>
        <a:xfrm>
          <a:off x="4284798" y="813467"/>
          <a:ext cx="1946002" cy="272440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718" tIns="330200" rIns="151718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Using Regex to extract damage metrics from text data</a:t>
          </a:r>
        </a:p>
      </dsp:txBody>
      <dsp:txXfrm>
        <a:off x="4284798" y="1848740"/>
        <a:ext cx="1946002" cy="1634641"/>
      </dsp:txXfrm>
    </dsp:sp>
    <dsp:sp modelId="{7A7C4C02-5D3B-44BC-8385-AD56A8648889}">
      <dsp:nvSpPr>
        <dsp:cNvPr id="0" name=""/>
        <dsp:cNvSpPr/>
      </dsp:nvSpPr>
      <dsp:spPr>
        <a:xfrm>
          <a:off x="4849139" y="1085907"/>
          <a:ext cx="817320" cy="81732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22" tIns="12700" rIns="63722" bIns="1270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3</a:t>
          </a:r>
        </a:p>
      </dsp:txBody>
      <dsp:txXfrm>
        <a:off x="4968833" y="1205601"/>
        <a:ext cx="577932" cy="577932"/>
      </dsp:txXfrm>
    </dsp:sp>
    <dsp:sp modelId="{5C372C97-320A-4A0C-B326-A6B612739F9E}">
      <dsp:nvSpPr>
        <dsp:cNvPr id="0" name=""/>
        <dsp:cNvSpPr/>
      </dsp:nvSpPr>
      <dsp:spPr>
        <a:xfrm>
          <a:off x="4284798" y="3537798"/>
          <a:ext cx="1946002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45518B-DDCD-4125-9E69-C51F85C92AF0}">
      <dsp:nvSpPr>
        <dsp:cNvPr id="0" name=""/>
        <dsp:cNvSpPr/>
      </dsp:nvSpPr>
      <dsp:spPr>
        <a:xfrm>
          <a:off x="6425401" y="813467"/>
          <a:ext cx="1946002" cy="272440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718" tIns="330200" rIns="151718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Creating and modeling data tables in SQL</a:t>
          </a:r>
        </a:p>
      </dsp:txBody>
      <dsp:txXfrm>
        <a:off x="6425401" y="1848740"/>
        <a:ext cx="1946002" cy="1634641"/>
      </dsp:txXfrm>
    </dsp:sp>
    <dsp:sp modelId="{038EB893-D33B-4E57-A290-9E2044DFDC47}">
      <dsp:nvSpPr>
        <dsp:cNvPr id="0" name=""/>
        <dsp:cNvSpPr/>
      </dsp:nvSpPr>
      <dsp:spPr>
        <a:xfrm>
          <a:off x="6989741" y="1085907"/>
          <a:ext cx="817320" cy="81732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22" tIns="12700" rIns="63722" bIns="1270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4</a:t>
          </a:r>
        </a:p>
      </dsp:txBody>
      <dsp:txXfrm>
        <a:off x="7109435" y="1205601"/>
        <a:ext cx="577932" cy="577932"/>
      </dsp:txXfrm>
    </dsp:sp>
    <dsp:sp modelId="{D6E6ED12-E651-493A-BECE-F339C3F36549}">
      <dsp:nvSpPr>
        <dsp:cNvPr id="0" name=""/>
        <dsp:cNvSpPr/>
      </dsp:nvSpPr>
      <dsp:spPr>
        <a:xfrm>
          <a:off x="6425401" y="3537798"/>
          <a:ext cx="1946002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295E4F-917D-46ED-AEB6-0354398BE447}">
      <dsp:nvSpPr>
        <dsp:cNvPr id="0" name=""/>
        <dsp:cNvSpPr/>
      </dsp:nvSpPr>
      <dsp:spPr>
        <a:xfrm>
          <a:off x="8566003" y="813467"/>
          <a:ext cx="1946002" cy="272440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718" tIns="330200" rIns="151718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Visualizing data in Power Bi</a:t>
          </a:r>
        </a:p>
      </dsp:txBody>
      <dsp:txXfrm>
        <a:off x="8566003" y="1848740"/>
        <a:ext cx="1946002" cy="1634641"/>
      </dsp:txXfrm>
    </dsp:sp>
    <dsp:sp modelId="{E521425E-F591-4513-B931-223146B977A4}">
      <dsp:nvSpPr>
        <dsp:cNvPr id="0" name=""/>
        <dsp:cNvSpPr/>
      </dsp:nvSpPr>
      <dsp:spPr>
        <a:xfrm>
          <a:off x="9130344" y="1085907"/>
          <a:ext cx="817320" cy="81732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22" tIns="12700" rIns="63722" bIns="1270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5</a:t>
          </a:r>
        </a:p>
      </dsp:txBody>
      <dsp:txXfrm>
        <a:off x="9250038" y="1205601"/>
        <a:ext cx="577932" cy="577932"/>
      </dsp:txXfrm>
    </dsp:sp>
    <dsp:sp modelId="{653BF5BF-589A-4845-8031-CF6AB818BBCC}">
      <dsp:nvSpPr>
        <dsp:cNvPr id="0" name=""/>
        <dsp:cNvSpPr/>
      </dsp:nvSpPr>
      <dsp:spPr>
        <a:xfrm>
          <a:off x="8566003" y="3537798"/>
          <a:ext cx="1946002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BC63C7-E12E-4162-BCE0-18AD6887EA4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50BCD0-F5F8-4548-A514-8D2A5DED9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84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0BCD0-F5F8-4548-A514-8D2A5DED936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729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42270-7ED8-4066-24DA-0A779DDC7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372466-75A5-9C90-0E81-C9BA74C50E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65FF5-4BCC-A2FE-4D5F-BD50C1B63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6A89-910A-483B-BE5D-3902229C4977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9523E-06F4-6552-7B15-F31FC286D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8ADE0-7952-087E-7A85-35FB8F298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8C384-8AF8-4574-9371-6668F3DB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674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8A680-E5C4-F1D8-F12B-2F98BDA38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07FBA-CDFC-CED4-0688-276023B45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0AAFC-DC5E-1E03-59B5-C65305675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6A89-910A-483B-BE5D-3902229C4977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A21F2-CF39-A292-74E9-1550A3C4F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EAF40-37AE-9FCC-2E17-2C904D73C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8C384-8AF8-4574-9371-6668F3DB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238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5B713-EB53-2B88-B026-C574E3D9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375995-B106-1C98-C2CC-19A042DAA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F8576-5C4C-5A58-2A00-C9D5C12B3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6A89-910A-483B-BE5D-3902229C4977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D2DD33-381A-DBE2-7144-0BB73A034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0F386-2014-BFB2-0028-7D147E2F8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8C384-8AF8-4574-9371-6668F3DB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680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DF46F-36A3-C599-DF91-969FDB674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9B5EF-C4AB-B209-D7DD-F77D74E6B3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1C5238-AD36-B00D-E46E-96202132EA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59226-3303-50E6-3B52-E1B668021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6A89-910A-483B-BE5D-3902229C4977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F8166-FB6F-9FC9-1BEC-611E1E6B8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14B02-0A7F-729C-D89A-558FF4EED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8C384-8AF8-4574-9371-6668F3DB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109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C9897-8289-44EC-FF6E-98D8A60AE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DEDEB-628D-23BD-76D2-3F0D897E0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DB6623-F8FE-0286-8D35-154BFD02FB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F09DB1-A395-DC5D-0B02-EB6ED22BED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FB0CD5-246F-0E3B-4C6D-525549EEC1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AA666D-6FFB-24AB-5675-6519A75A4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6A89-910A-483B-BE5D-3902229C4977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65B1F7-7E84-A194-3420-AC9F7DDDD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15F868-BA9D-7078-5482-4B48591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8C384-8AF8-4574-9371-6668F3DB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412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F413A-5E44-D6E1-82B3-AA931585B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5F612F-331D-052B-DD58-45D9BB60C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6A89-910A-483B-BE5D-3902229C4977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A3703A-E93E-5D1F-68AF-C5A20C029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DE9A2C-5CD1-28B2-83DD-CF51194A4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8C384-8AF8-4574-9371-6668F3DB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691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22302D-01A2-916C-C435-227A5463D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6A89-910A-483B-BE5D-3902229C4977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2B27DF-AA7A-133D-AEB8-0D343B250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B541A-4EB5-5D55-84F4-6D08B9D3C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8C384-8AF8-4574-9371-6668F3DB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75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C7332-4FFD-923A-F839-2C3B0C1A1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EF76B-CB8A-91E4-F93F-F46AA201D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643874-45D1-03DF-4DCF-413B2B3959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A42E70-A154-3DD7-5E22-8AF1283E4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6A89-910A-483B-BE5D-3902229C4977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524837-ABE4-F2E2-8211-8D72C877F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96B709-7A86-45DC-3A31-99AA187BC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8C384-8AF8-4574-9371-6668F3DB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683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17FFF-C6A1-16FA-1C7A-1BA2B9998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BD0093-074D-72E8-0FDE-BFD2DBA821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9708AC-967B-99F4-45C6-56E5874574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68FB36-5C85-1118-BA95-FCAB23BDF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6A89-910A-483B-BE5D-3902229C4977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17E574-EC3E-7E3C-73F4-420DCCD64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A1FE9-0E90-5BCB-F47C-125363979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8C384-8AF8-4574-9371-6668F3DB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320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E307F-1AAF-4D72-2ACC-746013900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84178F-3519-37C4-947E-26C34A6FBC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DC282-4AE0-C33C-DAFE-BF9873A69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6A89-910A-483B-BE5D-3902229C4977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8C6BB-206D-C35B-183C-05EBF853A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2ED81-97A6-61C4-8FA2-EC5E6D200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8C384-8AF8-4574-9371-6668F3DB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62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D453FC-A19C-7D5C-1074-0611D9A459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9EBE23-40A6-EAA2-165B-984B183F0A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09311-CD7E-A7BA-E124-562DC5108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6A89-910A-483B-BE5D-3902229C4977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C20E2-7C67-F419-11B5-6E562F7DD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9314A-8904-58C3-C231-A11CFFFE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8C384-8AF8-4574-9371-6668F3DB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75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26F708-DDF4-A0D9-EFD3-B759BD60E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B3F101-5FCF-3188-DE4B-0F39D23AEF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3DFA1-E5BE-F44D-C851-7DC9E2640B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066A89-910A-483B-BE5D-3902229C4977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B6555-428F-0704-C088-FF93379FB2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A11BF6-46AC-9B48-A46B-A8E824085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8C384-8AF8-4574-9371-6668F3DB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28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file:///C:\Users\plann\Documents\Nashville%20Software%20School\Python\Capstone\TN_storms\python_cleaning\regex_narratives.ipynb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hyperlink" Target="file:///C:\Users\plann\Documents\Nashville%20Software%20School\Python\Capstone\TN_storms\sql_analysis_modelling\star_schema.sq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asanzdiego.wordpress.com/2015/12/21/instalacion-y-configuracion-de-postgresql-y-pgadmin-en-ubuntu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file:///C:\Users\plann\Documents\Nashville%20Software%20School\Python\Capstone\TN_storms\sql_analysis_modelling\Gabe_hardin_NSS_capstone.pbix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0AE394F-AFF1-4485-AF1F-7387A2F04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Concept View To Office Building And Sky">
            <a:extLst>
              <a:ext uri="{FF2B5EF4-FFF2-40B4-BE49-F238E27FC236}">
                <a16:creationId xmlns:a16="http://schemas.microsoft.com/office/drawing/2014/main" id="{121EB520-45E1-4DC7-F8B7-202F7D87282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84" r="1" b="1"/>
          <a:stretch>
            <a:fillRect/>
          </a:stretch>
        </p:blipFill>
        <p:spPr>
          <a:xfrm>
            <a:off x="-6096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683D043-25BB-4AC9-8130-641179672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3323345"/>
          </a:xfrm>
          <a:prstGeom prst="rect">
            <a:avLst/>
          </a:prstGeom>
          <a:gradFill flip="none" rotWithShape="1">
            <a:gsLst>
              <a:gs pos="57000">
                <a:srgbClr val="000000">
                  <a:alpha val="30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61CCAC-6875-474C-8E9E-F57ABF078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047" y="4704862"/>
            <a:ext cx="12191999" cy="2155484"/>
          </a:xfrm>
          <a:prstGeom prst="rect">
            <a:avLst/>
          </a:prstGeom>
          <a:gradFill flip="none" rotWithShape="1">
            <a:gsLst>
              <a:gs pos="59000">
                <a:srgbClr val="000000">
                  <a:alpha val="30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BD4129-36F9-30E0-99E7-403DE0333634}"/>
              </a:ext>
            </a:extLst>
          </p:cNvPr>
          <p:cNvSpPr/>
          <p:nvPr/>
        </p:nvSpPr>
        <p:spPr>
          <a:xfrm>
            <a:off x="-827401" y="5252988"/>
            <a:ext cx="13396766" cy="1606185"/>
          </a:xfrm>
          <a:prstGeom prst="rect">
            <a:avLst/>
          </a:prstGeom>
          <a:solidFill>
            <a:srgbClr val="2A384C"/>
          </a:solidFill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4B8848-9D0E-BB4A-1841-DDEFE6A9A2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4378" y="629755"/>
            <a:ext cx="10656891" cy="3902673"/>
          </a:xfrm>
        </p:spPr>
        <p:txBody>
          <a:bodyPr anchor="t">
            <a:normAutofit/>
          </a:bodyPr>
          <a:lstStyle/>
          <a:p>
            <a:pPr algn="l"/>
            <a:r>
              <a:rPr lang="en-US" sz="5200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Are TN counties becoming more vulnerable to extreme weather over time?</a:t>
            </a:r>
            <a:endParaRPr lang="en-US" sz="52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C4A88-71C3-3D34-758B-91B428459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3801" y="5195084"/>
            <a:ext cx="3645447" cy="1175039"/>
          </a:xfrm>
        </p:spPr>
        <p:txBody>
          <a:bodyPr anchor="b">
            <a:normAutofit/>
          </a:bodyPr>
          <a:lstStyle/>
          <a:p>
            <a:pPr algn="l"/>
            <a:r>
              <a:rPr lang="en-US" sz="3200" dirty="0">
                <a:solidFill>
                  <a:schemeClr val="bg1"/>
                </a:solidFill>
              </a:rPr>
              <a:t>By Gabriel Hardin</a:t>
            </a:r>
          </a:p>
        </p:txBody>
      </p:sp>
    </p:spTree>
    <p:extLst>
      <p:ext uri="{BB962C8B-B14F-4D97-AF65-F5344CB8AC3E}">
        <p14:creationId xmlns:p14="http://schemas.microsoft.com/office/powerpoint/2010/main" val="3716218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10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5D13CC36-B950-4F02-9BAF-9A7EB267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F2E2428-58BA-458D-AA54-05502E63F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748215" cy="6857999"/>
          </a:xfrm>
          <a:custGeom>
            <a:avLst/>
            <a:gdLst>
              <a:gd name="connsiteX0" fmla="*/ 0 w 9024730"/>
              <a:gd name="connsiteY0" fmla="*/ 0 h 6857999"/>
              <a:gd name="connsiteX1" fmla="*/ 9024730 w 9024730"/>
              <a:gd name="connsiteY1" fmla="*/ 0 h 6857999"/>
              <a:gd name="connsiteX2" fmla="*/ 9024730 w 9024730"/>
              <a:gd name="connsiteY2" fmla="*/ 2 h 6857999"/>
              <a:gd name="connsiteX3" fmla="*/ 8447016 w 9024730"/>
              <a:gd name="connsiteY3" fmla="*/ 2 h 6857999"/>
              <a:gd name="connsiteX4" fmla="*/ 8441214 w 9024730"/>
              <a:gd name="connsiteY4" fmla="*/ 14562 h 6857999"/>
              <a:gd name="connsiteX5" fmla="*/ 8445389 w 9024730"/>
              <a:gd name="connsiteY5" fmla="*/ 59077 h 6857999"/>
              <a:gd name="connsiteX6" fmla="*/ 8437086 w 9024730"/>
              <a:gd name="connsiteY6" fmla="*/ 107668 h 6857999"/>
              <a:gd name="connsiteX7" fmla="*/ 8458599 w 9024730"/>
              <a:gd name="connsiteY7" fmla="*/ 246136 h 6857999"/>
              <a:gd name="connsiteX8" fmla="*/ 8433237 w 9024730"/>
              <a:gd name="connsiteY8" fmla="*/ 372908 h 6857999"/>
              <a:gd name="connsiteX9" fmla="*/ 8430194 w 9024730"/>
              <a:gd name="connsiteY9" fmla="*/ 450607 h 6857999"/>
              <a:gd name="connsiteX10" fmla="*/ 8443315 w 9024730"/>
              <a:gd name="connsiteY10" fmla="*/ 812800 h 6857999"/>
              <a:gd name="connsiteX11" fmla="*/ 8453042 w 9024730"/>
              <a:gd name="connsiteY11" fmla="*/ 912727 h 6857999"/>
              <a:gd name="connsiteX12" fmla="*/ 8451649 w 9024730"/>
              <a:gd name="connsiteY12" fmla="*/ 989950 h 6857999"/>
              <a:gd name="connsiteX13" fmla="*/ 8455592 w 9024730"/>
              <a:gd name="connsiteY13" fmla="*/ 1141745 h 6857999"/>
              <a:gd name="connsiteX14" fmla="*/ 8470203 w 9024730"/>
              <a:gd name="connsiteY14" fmla="*/ 1265454 h 6857999"/>
              <a:gd name="connsiteX15" fmla="*/ 8499638 w 9024730"/>
              <a:gd name="connsiteY15" fmla="*/ 1385480 h 6857999"/>
              <a:gd name="connsiteX16" fmla="*/ 8518660 w 9024730"/>
              <a:gd name="connsiteY16" fmla="*/ 1458060 h 6857999"/>
              <a:gd name="connsiteX17" fmla="*/ 8539125 w 9024730"/>
              <a:gd name="connsiteY17" fmla="*/ 1513175 h 6857999"/>
              <a:gd name="connsiteX18" fmla="*/ 8570281 w 9024730"/>
              <a:gd name="connsiteY18" fmla="*/ 1570809 h 6857999"/>
              <a:gd name="connsiteX19" fmla="*/ 8605212 w 9024730"/>
              <a:gd name="connsiteY19" fmla="*/ 1638391 h 6857999"/>
              <a:gd name="connsiteX20" fmla="*/ 8626457 w 9024730"/>
              <a:gd name="connsiteY20" fmla="*/ 1742490 h 6857999"/>
              <a:gd name="connsiteX21" fmla="*/ 8654861 w 9024730"/>
              <a:gd name="connsiteY21" fmla="*/ 1818229 h 6857999"/>
              <a:gd name="connsiteX22" fmla="*/ 8648005 w 9024730"/>
              <a:gd name="connsiteY22" fmla="*/ 1862723 h 6857999"/>
              <a:gd name="connsiteX23" fmla="*/ 8654469 w 9024730"/>
              <a:gd name="connsiteY23" fmla="*/ 1917476 h 6857999"/>
              <a:gd name="connsiteX24" fmla="*/ 8649702 w 9024730"/>
              <a:gd name="connsiteY24" fmla="*/ 1972204 h 6857999"/>
              <a:gd name="connsiteX25" fmla="*/ 8656357 w 9024730"/>
              <a:gd name="connsiteY25" fmla="*/ 2054291 h 6857999"/>
              <a:gd name="connsiteX26" fmla="*/ 8648660 w 9024730"/>
              <a:gd name="connsiteY26" fmla="*/ 2227417 h 6857999"/>
              <a:gd name="connsiteX27" fmla="*/ 8607609 w 9024730"/>
              <a:gd name="connsiteY27" fmla="*/ 2510933 h 6857999"/>
              <a:gd name="connsiteX28" fmla="*/ 8608432 w 9024730"/>
              <a:gd name="connsiteY28" fmla="*/ 2741866 h 6857999"/>
              <a:gd name="connsiteX29" fmla="*/ 8619112 w 9024730"/>
              <a:gd name="connsiteY29" fmla="*/ 2864935 h 6857999"/>
              <a:gd name="connsiteX30" fmla="*/ 8627742 w 9024730"/>
              <a:gd name="connsiteY30" fmla="*/ 2950807 h 6857999"/>
              <a:gd name="connsiteX31" fmla="*/ 8611822 w 9024730"/>
              <a:gd name="connsiteY31" fmla="*/ 2978246 h 6857999"/>
              <a:gd name="connsiteX32" fmla="*/ 8608239 w 9024730"/>
              <a:gd name="connsiteY32" fmla="*/ 2995916 h 6857999"/>
              <a:gd name="connsiteX33" fmla="*/ 8598647 w 9024730"/>
              <a:gd name="connsiteY33" fmla="*/ 2998648 h 6857999"/>
              <a:gd name="connsiteX34" fmla="*/ 8587108 w 9024730"/>
              <a:gd name="connsiteY34" fmla="*/ 3023630 h 6857999"/>
              <a:gd name="connsiteX35" fmla="*/ 8577885 w 9024730"/>
              <a:gd name="connsiteY35" fmla="*/ 3096975 h 6857999"/>
              <a:gd name="connsiteX36" fmla="*/ 8557492 w 9024730"/>
              <a:gd name="connsiteY36" fmla="*/ 3216657 h 6857999"/>
              <a:gd name="connsiteX37" fmla="*/ 8560894 w 9024730"/>
              <a:gd name="connsiteY37" fmla="*/ 3310980 h 6857999"/>
              <a:gd name="connsiteX38" fmla="*/ 8547852 w 9024730"/>
              <a:gd name="connsiteY38" fmla="*/ 3344725 h 6857999"/>
              <a:gd name="connsiteX39" fmla="*/ 8535427 w 9024730"/>
              <a:gd name="connsiteY39" fmla="*/ 3393250 h 6857999"/>
              <a:gd name="connsiteX40" fmla="*/ 8520092 w 9024730"/>
              <a:gd name="connsiteY40" fmla="*/ 3514536 h 6857999"/>
              <a:gd name="connsiteX41" fmla="*/ 8497231 w 9024730"/>
              <a:gd name="connsiteY41" fmla="*/ 3686149 h 6857999"/>
              <a:gd name="connsiteX42" fmla="*/ 8489799 w 9024730"/>
              <a:gd name="connsiteY42" fmla="*/ 3692208 h 6857999"/>
              <a:gd name="connsiteX43" fmla="*/ 8475804 w 9024730"/>
              <a:gd name="connsiteY43" fmla="*/ 3776022 h 6857999"/>
              <a:gd name="connsiteX44" fmla="*/ 8471279 w 9024730"/>
              <a:gd name="connsiteY44" fmla="*/ 3977138 h 6857999"/>
              <a:gd name="connsiteX45" fmla="*/ 8408913 w 9024730"/>
              <a:gd name="connsiteY45" fmla="*/ 4222149 h 6857999"/>
              <a:gd name="connsiteX46" fmla="*/ 8402112 w 9024730"/>
              <a:gd name="connsiteY46" fmla="*/ 4364683 h 6857999"/>
              <a:gd name="connsiteX47" fmla="*/ 8393355 w 9024730"/>
              <a:gd name="connsiteY47" fmla="*/ 4462471 h 6857999"/>
              <a:gd name="connsiteX48" fmla="*/ 8376166 w 9024730"/>
              <a:gd name="connsiteY48" fmla="*/ 4574052 h 6857999"/>
              <a:gd name="connsiteX49" fmla="*/ 8341678 w 9024730"/>
              <a:gd name="connsiteY49" fmla="*/ 4667756 h 6857999"/>
              <a:gd name="connsiteX50" fmla="*/ 8273661 w 9024730"/>
              <a:gd name="connsiteY50" fmla="*/ 4799019 h 6857999"/>
              <a:gd name="connsiteX51" fmla="*/ 8256132 w 9024730"/>
              <a:gd name="connsiteY51" fmla="*/ 4849614 h 6857999"/>
              <a:gd name="connsiteX52" fmla="*/ 8226804 w 9024730"/>
              <a:gd name="connsiteY52" fmla="*/ 4919971 h 6857999"/>
              <a:gd name="connsiteX53" fmla="*/ 8171825 w 9024730"/>
              <a:gd name="connsiteY53" fmla="*/ 5010766 h 6857999"/>
              <a:gd name="connsiteX54" fmla="*/ 8143172 w 9024730"/>
              <a:gd name="connsiteY54" fmla="*/ 5088190 h 6857999"/>
              <a:gd name="connsiteX55" fmla="*/ 8126363 w 9024730"/>
              <a:gd name="connsiteY55" fmla="*/ 5143922 h 6857999"/>
              <a:gd name="connsiteX56" fmla="*/ 8103782 w 9024730"/>
              <a:gd name="connsiteY56" fmla="*/ 5284346 h 6857999"/>
              <a:gd name="connsiteX57" fmla="*/ 8084361 w 9024730"/>
              <a:gd name="connsiteY57" fmla="*/ 5390948 h 6857999"/>
              <a:gd name="connsiteX58" fmla="*/ 8062552 w 9024730"/>
              <a:gd name="connsiteY58" fmla="*/ 5470854 h 6857999"/>
              <a:gd name="connsiteX59" fmla="*/ 8057342 w 9024730"/>
              <a:gd name="connsiteY59" fmla="*/ 5529643 h 6857999"/>
              <a:gd name="connsiteX60" fmla="*/ 8044923 w 9024730"/>
              <a:gd name="connsiteY60" fmla="*/ 5597292 h 6857999"/>
              <a:gd name="connsiteX61" fmla="*/ 8035233 w 9024730"/>
              <a:gd name="connsiteY61" fmla="*/ 5608899 h 6857999"/>
              <a:gd name="connsiteX62" fmla="*/ 8018178 w 9024730"/>
              <a:gd name="connsiteY62" fmla="*/ 5684911 h 6857999"/>
              <a:gd name="connsiteX63" fmla="*/ 8018018 w 9024730"/>
              <a:gd name="connsiteY63" fmla="*/ 5755776 h 6857999"/>
              <a:gd name="connsiteX64" fmla="*/ 8008640 w 9024730"/>
              <a:gd name="connsiteY64" fmla="*/ 5889599 h 6857999"/>
              <a:gd name="connsiteX65" fmla="*/ 8013542 w 9024730"/>
              <a:gd name="connsiteY65" fmla="*/ 5989744 h 6857999"/>
              <a:gd name="connsiteX66" fmla="*/ 7980757 w 9024730"/>
              <a:gd name="connsiteY66" fmla="*/ 6084926 h 6857999"/>
              <a:gd name="connsiteX67" fmla="*/ 7975907 w 9024730"/>
              <a:gd name="connsiteY67" fmla="*/ 6346549 h 6857999"/>
              <a:gd name="connsiteX68" fmla="*/ 7974221 w 9024730"/>
              <a:gd name="connsiteY68" fmla="*/ 6527527 h 6857999"/>
              <a:gd name="connsiteX69" fmla="*/ 7979135 w 9024730"/>
              <a:gd name="connsiteY69" fmla="*/ 6627129 h 6857999"/>
              <a:gd name="connsiteX70" fmla="*/ 7979404 w 9024730"/>
              <a:gd name="connsiteY70" fmla="*/ 6694819 h 6857999"/>
              <a:gd name="connsiteX71" fmla="*/ 8009526 w 9024730"/>
              <a:gd name="connsiteY71" fmla="*/ 6765445 h 6857999"/>
              <a:gd name="connsiteX72" fmla="*/ 8018211 w 9024730"/>
              <a:gd name="connsiteY72" fmla="*/ 6844697 h 6857999"/>
              <a:gd name="connsiteX73" fmla="*/ 8019608 w 9024730"/>
              <a:gd name="connsiteY73" fmla="*/ 6857999 h 6857999"/>
              <a:gd name="connsiteX74" fmla="*/ 0 w 9024730"/>
              <a:gd name="connsiteY7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9024730" h="6857999">
                <a:moveTo>
                  <a:pt x="0" y="0"/>
                </a:moveTo>
                <a:lnTo>
                  <a:pt x="9024730" y="0"/>
                </a:lnTo>
                <a:lnTo>
                  <a:pt x="9024730" y="2"/>
                </a:lnTo>
                <a:lnTo>
                  <a:pt x="8447016" y="2"/>
                </a:lnTo>
                <a:lnTo>
                  <a:pt x="8441214" y="14562"/>
                </a:lnTo>
                <a:lnTo>
                  <a:pt x="8445389" y="59077"/>
                </a:lnTo>
                <a:cubicBezTo>
                  <a:pt x="8445971" y="76949"/>
                  <a:pt x="8436504" y="89796"/>
                  <a:pt x="8437086" y="107668"/>
                </a:cubicBezTo>
                <a:cubicBezTo>
                  <a:pt x="8417947" y="138162"/>
                  <a:pt x="8459241" y="201929"/>
                  <a:pt x="8458599" y="246136"/>
                </a:cubicBezTo>
                <a:cubicBezTo>
                  <a:pt x="8457958" y="290343"/>
                  <a:pt x="8471649" y="364179"/>
                  <a:pt x="8433237" y="372908"/>
                </a:cubicBezTo>
                <a:cubicBezTo>
                  <a:pt x="8426916" y="431308"/>
                  <a:pt x="8438389" y="357606"/>
                  <a:pt x="8430194" y="450607"/>
                </a:cubicBezTo>
                <a:cubicBezTo>
                  <a:pt x="8466727" y="551950"/>
                  <a:pt x="8430182" y="787036"/>
                  <a:pt x="8443315" y="812800"/>
                </a:cubicBezTo>
                <a:cubicBezTo>
                  <a:pt x="8478999" y="860799"/>
                  <a:pt x="8435788" y="854953"/>
                  <a:pt x="8453042" y="912727"/>
                </a:cubicBezTo>
                <a:cubicBezTo>
                  <a:pt x="8462900" y="945986"/>
                  <a:pt x="8451223" y="951781"/>
                  <a:pt x="8451649" y="989950"/>
                </a:cubicBezTo>
                <a:cubicBezTo>
                  <a:pt x="8452074" y="1028120"/>
                  <a:pt x="8452500" y="1095828"/>
                  <a:pt x="8455592" y="1141745"/>
                </a:cubicBezTo>
                <a:cubicBezTo>
                  <a:pt x="8458684" y="1187662"/>
                  <a:pt x="8470047" y="1234783"/>
                  <a:pt x="8470203" y="1265454"/>
                </a:cubicBezTo>
                <a:cubicBezTo>
                  <a:pt x="8458947" y="1304052"/>
                  <a:pt x="8496012" y="1370755"/>
                  <a:pt x="8499638" y="1385480"/>
                </a:cubicBezTo>
                <a:cubicBezTo>
                  <a:pt x="8514485" y="1422714"/>
                  <a:pt x="8525070" y="1428103"/>
                  <a:pt x="8518660" y="1458060"/>
                </a:cubicBezTo>
                <a:cubicBezTo>
                  <a:pt x="8518783" y="1468057"/>
                  <a:pt x="8539003" y="1503177"/>
                  <a:pt x="8539125" y="1513175"/>
                </a:cubicBezTo>
                <a:lnTo>
                  <a:pt x="8570281" y="1570809"/>
                </a:lnTo>
                <a:cubicBezTo>
                  <a:pt x="8597636" y="1617136"/>
                  <a:pt x="8594573" y="1601443"/>
                  <a:pt x="8605212" y="1638391"/>
                </a:cubicBezTo>
                <a:cubicBezTo>
                  <a:pt x="8629645" y="1719640"/>
                  <a:pt x="8613884" y="1715203"/>
                  <a:pt x="8626457" y="1742490"/>
                </a:cubicBezTo>
                <a:lnTo>
                  <a:pt x="8654861" y="1818229"/>
                </a:lnTo>
                <a:cubicBezTo>
                  <a:pt x="8657202" y="1824059"/>
                  <a:pt x="8651899" y="1851211"/>
                  <a:pt x="8648005" y="1862723"/>
                </a:cubicBezTo>
                <a:lnTo>
                  <a:pt x="8654469" y="1917476"/>
                </a:lnTo>
                <a:lnTo>
                  <a:pt x="8649702" y="1972204"/>
                </a:lnTo>
                <a:cubicBezTo>
                  <a:pt x="8652251" y="1979569"/>
                  <a:pt x="8651461" y="2048203"/>
                  <a:pt x="8656357" y="2054291"/>
                </a:cubicBezTo>
                <a:cubicBezTo>
                  <a:pt x="8672645" y="2141657"/>
                  <a:pt x="8632397" y="2189849"/>
                  <a:pt x="8648660" y="2227417"/>
                </a:cubicBezTo>
                <a:cubicBezTo>
                  <a:pt x="8639941" y="2317591"/>
                  <a:pt x="8613796" y="2407644"/>
                  <a:pt x="8607609" y="2510933"/>
                </a:cubicBezTo>
                <a:cubicBezTo>
                  <a:pt x="8633490" y="2597916"/>
                  <a:pt x="8602674" y="2649734"/>
                  <a:pt x="8608432" y="2741866"/>
                </a:cubicBezTo>
                <a:cubicBezTo>
                  <a:pt x="8630300" y="2779815"/>
                  <a:pt x="8631929" y="2817058"/>
                  <a:pt x="8619112" y="2864935"/>
                </a:cubicBezTo>
                <a:cubicBezTo>
                  <a:pt x="8655820" y="2860552"/>
                  <a:pt x="8588374" y="2937673"/>
                  <a:pt x="8627742" y="2950807"/>
                </a:cubicBezTo>
                <a:lnTo>
                  <a:pt x="8611822" y="2978246"/>
                </a:lnTo>
                <a:lnTo>
                  <a:pt x="8608239" y="2995916"/>
                </a:lnTo>
                <a:lnTo>
                  <a:pt x="8598647" y="2998648"/>
                </a:lnTo>
                <a:lnTo>
                  <a:pt x="8587108" y="3023630"/>
                </a:lnTo>
                <a:cubicBezTo>
                  <a:pt x="8584111" y="3033333"/>
                  <a:pt x="8577413" y="3084375"/>
                  <a:pt x="8577885" y="3096975"/>
                </a:cubicBezTo>
                <a:cubicBezTo>
                  <a:pt x="8594321" y="3142205"/>
                  <a:pt x="8535131" y="3160433"/>
                  <a:pt x="8557492" y="3216657"/>
                </a:cubicBezTo>
                <a:cubicBezTo>
                  <a:pt x="8562518" y="3237178"/>
                  <a:pt x="8573573" y="3299737"/>
                  <a:pt x="8560894" y="3310980"/>
                </a:cubicBezTo>
                <a:cubicBezTo>
                  <a:pt x="8557601" y="3323902"/>
                  <a:pt x="8561083" y="3339340"/>
                  <a:pt x="8547852" y="3344725"/>
                </a:cubicBezTo>
                <a:cubicBezTo>
                  <a:pt x="8531788" y="3353908"/>
                  <a:pt x="8553430" y="3400659"/>
                  <a:pt x="8535427" y="3393250"/>
                </a:cubicBezTo>
                <a:cubicBezTo>
                  <a:pt x="8550195" y="3426421"/>
                  <a:pt x="8529553" y="3487753"/>
                  <a:pt x="8520092" y="3514536"/>
                </a:cubicBezTo>
                <a:cubicBezTo>
                  <a:pt x="8513726" y="3563353"/>
                  <a:pt x="8500070" y="3650327"/>
                  <a:pt x="8497231" y="3686149"/>
                </a:cubicBezTo>
                <a:cubicBezTo>
                  <a:pt x="8494574" y="3687657"/>
                  <a:pt x="8493370" y="3677229"/>
                  <a:pt x="8489799" y="3692208"/>
                </a:cubicBezTo>
                <a:cubicBezTo>
                  <a:pt x="8486228" y="3707187"/>
                  <a:pt x="8465938" y="3757479"/>
                  <a:pt x="8475804" y="3776022"/>
                </a:cubicBezTo>
                <a:cubicBezTo>
                  <a:pt x="8441061" y="3875691"/>
                  <a:pt x="8487451" y="3939839"/>
                  <a:pt x="8471279" y="3977138"/>
                </a:cubicBezTo>
                <a:cubicBezTo>
                  <a:pt x="8465599" y="4067300"/>
                  <a:pt x="8419685" y="4164564"/>
                  <a:pt x="8408913" y="4222149"/>
                </a:cubicBezTo>
                <a:cubicBezTo>
                  <a:pt x="8403583" y="4287917"/>
                  <a:pt x="8398240" y="4339232"/>
                  <a:pt x="8402112" y="4364683"/>
                </a:cubicBezTo>
                <a:lnTo>
                  <a:pt x="8393355" y="4462471"/>
                </a:lnTo>
                <a:cubicBezTo>
                  <a:pt x="8396004" y="4503329"/>
                  <a:pt x="8376320" y="4548111"/>
                  <a:pt x="8376166" y="4574052"/>
                </a:cubicBezTo>
                <a:cubicBezTo>
                  <a:pt x="8369380" y="4670665"/>
                  <a:pt x="8352302" y="4649921"/>
                  <a:pt x="8341678" y="4667756"/>
                </a:cubicBezTo>
                <a:cubicBezTo>
                  <a:pt x="8320864" y="4705850"/>
                  <a:pt x="8290794" y="4758928"/>
                  <a:pt x="8273661" y="4799019"/>
                </a:cubicBezTo>
                <a:cubicBezTo>
                  <a:pt x="8254323" y="4834076"/>
                  <a:pt x="8262378" y="4811645"/>
                  <a:pt x="8256132" y="4849614"/>
                </a:cubicBezTo>
                <a:cubicBezTo>
                  <a:pt x="8239320" y="4853334"/>
                  <a:pt x="8207060" y="4883089"/>
                  <a:pt x="8226804" y="4919971"/>
                </a:cubicBezTo>
                <a:lnTo>
                  <a:pt x="8171825" y="5010766"/>
                </a:lnTo>
                <a:cubicBezTo>
                  <a:pt x="8150097" y="4983259"/>
                  <a:pt x="8165842" y="5107656"/>
                  <a:pt x="8143172" y="5088190"/>
                </a:cubicBezTo>
                <a:cubicBezTo>
                  <a:pt x="8128060" y="5102008"/>
                  <a:pt x="8138350" y="5118851"/>
                  <a:pt x="8126363" y="5143922"/>
                </a:cubicBezTo>
                <a:cubicBezTo>
                  <a:pt x="8116335" y="5192745"/>
                  <a:pt x="8111851" y="5226225"/>
                  <a:pt x="8103782" y="5284346"/>
                </a:cubicBezTo>
                <a:cubicBezTo>
                  <a:pt x="8101016" y="5338386"/>
                  <a:pt x="8095811" y="5337325"/>
                  <a:pt x="8084361" y="5390948"/>
                </a:cubicBezTo>
                <a:cubicBezTo>
                  <a:pt x="8082912" y="5429655"/>
                  <a:pt x="8063705" y="5449508"/>
                  <a:pt x="8062552" y="5470854"/>
                </a:cubicBezTo>
                <a:cubicBezTo>
                  <a:pt x="8086776" y="5526328"/>
                  <a:pt x="8037513" y="5496377"/>
                  <a:pt x="8057342" y="5529643"/>
                </a:cubicBezTo>
                <a:cubicBezTo>
                  <a:pt x="8050653" y="5550879"/>
                  <a:pt x="8055939" y="5587444"/>
                  <a:pt x="8044923" y="5597292"/>
                </a:cubicBezTo>
                <a:lnTo>
                  <a:pt x="8035233" y="5608899"/>
                </a:lnTo>
                <a:cubicBezTo>
                  <a:pt x="8030775" y="5623501"/>
                  <a:pt x="8021047" y="5660431"/>
                  <a:pt x="8018178" y="5684911"/>
                </a:cubicBezTo>
                <a:cubicBezTo>
                  <a:pt x="8005590" y="5692608"/>
                  <a:pt x="8011744" y="5734344"/>
                  <a:pt x="8018018" y="5755776"/>
                </a:cubicBezTo>
                <a:cubicBezTo>
                  <a:pt x="8019409" y="5792777"/>
                  <a:pt x="7989082" y="5848613"/>
                  <a:pt x="8008640" y="5889599"/>
                </a:cubicBezTo>
                <a:cubicBezTo>
                  <a:pt x="8011480" y="5932097"/>
                  <a:pt x="8009486" y="5940901"/>
                  <a:pt x="8013542" y="5989744"/>
                </a:cubicBezTo>
                <a:cubicBezTo>
                  <a:pt x="8022089" y="6020787"/>
                  <a:pt x="7982918" y="6024963"/>
                  <a:pt x="7980757" y="6084926"/>
                </a:cubicBezTo>
                <a:cubicBezTo>
                  <a:pt x="7974117" y="6134231"/>
                  <a:pt x="7999371" y="6240432"/>
                  <a:pt x="7975907" y="6346549"/>
                </a:cubicBezTo>
                <a:cubicBezTo>
                  <a:pt x="7987225" y="6409741"/>
                  <a:pt x="7980509" y="6468689"/>
                  <a:pt x="7974221" y="6527527"/>
                </a:cubicBezTo>
                <a:cubicBezTo>
                  <a:pt x="7955361" y="6585667"/>
                  <a:pt x="7987786" y="6579284"/>
                  <a:pt x="7979135" y="6627129"/>
                </a:cubicBezTo>
                <a:cubicBezTo>
                  <a:pt x="7983057" y="6635153"/>
                  <a:pt x="7984986" y="6697665"/>
                  <a:pt x="7979404" y="6694819"/>
                </a:cubicBezTo>
                <a:cubicBezTo>
                  <a:pt x="7981755" y="6716947"/>
                  <a:pt x="8003903" y="6732844"/>
                  <a:pt x="8009526" y="6765445"/>
                </a:cubicBezTo>
                <a:cubicBezTo>
                  <a:pt x="8011113" y="6776325"/>
                  <a:pt x="8014662" y="6810511"/>
                  <a:pt x="8018211" y="6844697"/>
                </a:cubicBezTo>
                <a:lnTo>
                  <a:pt x="8019608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2A4095-CF60-BF71-5154-ACA478705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914" y="533400"/>
            <a:ext cx="6881026" cy="1322887"/>
          </a:xfrm>
        </p:spPr>
        <p:txBody>
          <a:bodyPr>
            <a:normAutofit/>
          </a:bodyPr>
          <a:lstStyle/>
          <a:p>
            <a:r>
              <a:rPr lang="en-US" dirty="0"/>
              <a:t>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57E6E-D200-9D16-002C-053AC539E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914" y="1734367"/>
            <a:ext cx="7149380" cy="4915435"/>
          </a:xfrm>
        </p:spPr>
        <p:txBody>
          <a:bodyPr>
            <a:normAutofit/>
          </a:bodyPr>
          <a:lstStyle/>
          <a:p>
            <a:r>
              <a:rPr lang="en-US" sz="2400" dirty="0"/>
              <a:t>“How much in damages do TN counties experience because of storms, and how has that changed over time.”</a:t>
            </a:r>
          </a:p>
          <a:p>
            <a:r>
              <a:rPr lang="en-US" sz="2400" dirty="0"/>
              <a:t>Using Data from the NOAA Storm Events database, I rank ordered the severity of disasters and broke them down by county and disaster type.</a:t>
            </a:r>
          </a:p>
          <a:p>
            <a:r>
              <a:rPr lang="en-US" sz="2400" dirty="0"/>
              <a:t>My goal is to demonstrate the unique vulnerabilities to storms of different TN counties to inform government, policy makers, and county residents.</a:t>
            </a:r>
          </a:p>
          <a:p>
            <a:endParaRPr lang="en-US" sz="1900" dirty="0"/>
          </a:p>
          <a:p>
            <a:endParaRPr lang="en-US" sz="1900" dirty="0"/>
          </a:p>
          <a:p>
            <a:endParaRPr lang="en-US" sz="1900" dirty="0"/>
          </a:p>
        </p:txBody>
      </p:sp>
      <p:pic>
        <p:nvPicPr>
          <p:cNvPr id="7" name="Graphic 6" descr="Lightning">
            <a:extLst>
              <a:ext uri="{FF2B5EF4-FFF2-40B4-BE49-F238E27FC236}">
                <a16:creationId xmlns:a16="http://schemas.microsoft.com/office/drawing/2014/main" id="{DBCE351F-96E3-D960-E581-03EC7D6744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16621" y="1563509"/>
            <a:ext cx="2906973" cy="2906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637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29EB523-334F-BF8A-74FD-B2A88A7296A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8B1296-4A71-0087-3D32-176DA8688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Methodology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A1C1C80-B6D0-C1D1-AED8-39AC2F1098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2828778"/>
              </p:ext>
            </p:extLst>
          </p:nvPr>
        </p:nvGraphicFramePr>
        <p:xfrm>
          <a:off x="680884" y="1728608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24223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ornado on a field">
            <a:extLst>
              <a:ext uri="{FF2B5EF4-FFF2-40B4-BE49-F238E27FC236}">
                <a16:creationId xmlns:a16="http://schemas.microsoft.com/office/drawing/2014/main" id="{20C4A19E-448A-78DC-65C0-57733998B3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3400" y="-600669"/>
            <a:ext cx="14800841" cy="805933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2EBD708-ACD1-15A1-173E-607A6AF9782A}"/>
              </a:ext>
            </a:extLst>
          </p:cNvPr>
          <p:cNvSpPr/>
          <p:nvPr/>
        </p:nvSpPr>
        <p:spPr>
          <a:xfrm>
            <a:off x="-121920" y="0"/>
            <a:ext cx="12192000" cy="6858000"/>
          </a:xfrm>
          <a:prstGeom prst="rect">
            <a:avLst/>
          </a:prstGeom>
          <a:gradFill>
            <a:gsLst>
              <a:gs pos="54000">
                <a:srgbClr val="FFFFFF">
                  <a:alpha val="97000"/>
                </a:srgbClr>
              </a:gs>
              <a:gs pos="100000">
                <a:srgbClr val="FFFFFF">
                  <a:alpha val="0"/>
                </a:srgbClr>
              </a:gs>
              <a:gs pos="47000">
                <a:srgbClr val="FFFFFF">
                  <a:alpha val="96000"/>
                </a:srgbClr>
              </a:gs>
            </a:gsLst>
            <a:lin ang="21594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F857B9-AF74-FE39-4971-3DD0B3589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20" y="289560"/>
            <a:ext cx="64770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Defining “damage severity”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7A682-B443-1912-2FFD-BF3D7158C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698" y="1827331"/>
            <a:ext cx="5811062" cy="4741109"/>
          </a:xfrm>
        </p:spPr>
        <p:txBody>
          <a:bodyPr>
            <a:noAutofit/>
          </a:bodyPr>
          <a:lstStyle/>
          <a:p>
            <a:r>
              <a:rPr lang="en-US" sz="1800" dirty="0"/>
              <a:t>Using Regex, I analyzed incident reports from text data which contained words like “power loss”, “power outages”, “road closure”, and “road closed”.</a:t>
            </a:r>
          </a:p>
          <a:p>
            <a:endParaRPr lang="en-US" sz="1800" dirty="0"/>
          </a:p>
          <a:p>
            <a:r>
              <a:rPr lang="en-US" sz="1800" dirty="0"/>
              <a:t>This determined which storm events did or did not result in road closures and power outages.</a:t>
            </a:r>
          </a:p>
          <a:p>
            <a:endParaRPr lang="en-US" sz="1800" dirty="0"/>
          </a:p>
          <a:p>
            <a:r>
              <a:rPr lang="en-US" sz="1800" dirty="0"/>
              <a:t>To create a “damage severity” score, I created a percentile score ranking each disaster report from 0.0 – 1.0 using data columns for road closures, power outages, fatalities, injuries, property damages, and crop damages.</a:t>
            </a:r>
          </a:p>
          <a:p>
            <a:endParaRPr lang="en-US" sz="1800" dirty="0"/>
          </a:p>
          <a:p>
            <a:r>
              <a:rPr lang="en-US" sz="1800" dirty="0"/>
              <a:t> </a:t>
            </a:r>
            <a:r>
              <a:rPr lang="en-US" sz="1800" dirty="0">
                <a:hlinkClick r:id="rId4" action="ppaction://hlinkfile"/>
              </a:rPr>
              <a:t>C:\Users\plann\Documents\Nashville Software School\Python\Capstone\</a:t>
            </a:r>
            <a:r>
              <a:rPr lang="en-US" sz="1800" dirty="0" err="1">
                <a:hlinkClick r:id="rId4" action="ppaction://hlinkfile"/>
              </a:rPr>
              <a:t>TN_storms</a:t>
            </a:r>
            <a:r>
              <a:rPr lang="en-US" sz="1800" dirty="0">
                <a:hlinkClick r:id="rId4" action="ppaction://hlinkfile"/>
              </a:rPr>
              <a:t>\</a:t>
            </a:r>
            <a:r>
              <a:rPr lang="en-US" sz="1800" dirty="0" err="1">
                <a:hlinkClick r:id="rId4" action="ppaction://hlinkfile"/>
              </a:rPr>
              <a:t>python_cleaning</a:t>
            </a:r>
            <a:r>
              <a:rPr lang="en-US" sz="1800" dirty="0">
                <a:hlinkClick r:id="rId4" action="ppaction://hlinkfile"/>
              </a:rPr>
              <a:t>\</a:t>
            </a:r>
            <a:r>
              <a:rPr lang="en-US" sz="1800" dirty="0" err="1">
                <a:hlinkClick r:id="rId4" action="ppaction://hlinkfile"/>
              </a:rPr>
              <a:t>regex_narratives.ipynb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73028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8C00E0-3DA7-26FC-B9F1-4E74EE020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6877" y="365498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Data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58A3E-4C86-523B-C2A1-D96B49720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17" y="2153081"/>
            <a:ext cx="6964680" cy="4765618"/>
          </a:xfrm>
        </p:spPr>
        <p:txBody>
          <a:bodyPr>
            <a:normAutofit/>
          </a:bodyPr>
          <a:lstStyle/>
          <a:p>
            <a:r>
              <a:rPr lang="en-US" sz="2400" dirty="0"/>
              <a:t>Using the CREATE and DROP commands in PostgreSQL, I imported csv data into </a:t>
            </a:r>
            <a:r>
              <a:rPr lang="en-US" sz="2400" dirty="0" err="1"/>
              <a:t>pgAdmin</a:t>
            </a:r>
            <a:r>
              <a:rPr lang="en-US" sz="2400" dirty="0"/>
              <a:t> 4. </a:t>
            </a:r>
          </a:p>
          <a:p>
            <a:r>
              <a:rPr lang="en-US" sz="2400" dirty="0"/>
              <a:t>First, I imported flat csv files with data relevant to my dashboard, then I divided the large flat file into a model called a “Star Schema” </a:t>
            </a:r>
            <a:endParaRPr lang="en-US" sz="2400" dirty="0">
              <a:hlinkClick r:id="rId2" action="ppaction://hlinkfile"/>
            </a:endParaRPr>
          </a:p>
          <a:p>
            <a:endParaRPr lang="en-US" sz="2400" dirty="0">
              <a:hlinkClick r:id="rId2" action="ppaction://hlinkfile"/>
            </a:endParaRPr>
          </a:p>
          <a:p>
            <a:r>
              <a:rPr lang="en-US" sz="2400" dirty="0">
                <a:hlinkClick r:id="rId2" action="ppaction://hlinkfile"/>
              </a:rPr>
              <a:t>C:\Users\plann\Documents\Nashville Software School\Python\Capstone\</a:t>
            </a:r>
            <a:r>
              <a:rPr lang="en-US" sz="2400" dirty="0" err="1">
                <a:hlinkClick r:id="rId2" action="ppaction://hlinkfile"/>
              </a:rPr>
              <a:t>TN_storms</a:t>
            </a:r>
            <a:r>
              <a:rPr lang="en-US" sz="2400" dirty="0">
                <a:hlinkClick r:id="rId2" action="ppaction://hlinkfile"/>
              </a:rPr>
              <a:t>\</a:t>
            </a:r>
            <a:r>
              <a:rPr lang="en-US" sz="2400" dirty="0" err="1">
                <a:hlinkClick r:id="rId2" action="ppaction://hlinkfile"/>
              </a:rPr>
              <a:t>sql_analysis_modelling</a:t>
            </a:r>
            <a:r>
              <a:rPr lang="en-US" sz="2400" dirty="0">
                <a:hlinkClick r:id="rId2" action="ppaction://hlinkfile"/>
              </a:rPr>
              <a:t>\</a:t>
            </a:r>
            <a:r>
              <a:rPr lang="en-US" sz="2400" dirty="0" err="1">
                <a:hlinkClick r:id="rId2" action="ppaction://hlinkfile"/>
              </a:rPr>
              <a:t>star_schema.sql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C755FD-6373-BF89-4334-DDC8BFCFCE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678021" y="2061836"/>
            <a:ext cx="4088155" cy="1495096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8CD70E-685C-80FC-8ADE-09A339433452}"/>
              </a:ext>
            </a:extLst>
          </p:cNvPr>
          <p:cNvSpPr txBox="1"/>
          <p:nvPr/>
        </p:nvSpPr>
        <p:spPr>
          <a:xfrm>
            <a:off x="9075796" y="4738428"/>
            <a:ext cx="2432076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4" tooltip="https://asanzdiego.wordpress.com/2015/12/21/instalacion-y-configuracion-de-postgresql-y-pgadmin-en-ubuntu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5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512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01B08-D305-EF07-8A7C-2A6570EC1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71CE8-2960-CF1A-FA99-DADAEC19C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 action="ppaction://hlinkfile"/>
              </a:rPr>
              <a:t>C:\Users\plann\Documents\Nashville Software School\Python\Capstone\</a:t>
            </a:r>
            <a:r>
              <a:rPr lang="en-US" dirty="0" err="1">
                <a:hlinkClick r:id="rId2" action="ppaction://hlinkfile"/>
              </a:rPr>
              <a:t>TN_storms</a:t>
            </a:r>
            <a:r>
              <a:rPr lang="en-US" dirty="0">
                <a:hlinkClick r:id="rId2" action="ppaction://hlinkfile"/>
              </a:rPr>
              <a:t>\</a:t>
            </a:r>
            <a:r>
              <a:rPr lang="en-US" dirty="0" err="1">
                <a:hlinkClick r:id="rId2" action="ppaction://hlinkfile"/>
              </a:rPr>
              <a:t>sql_analysis_modelling</a:t>
            </a:r>
            <a:r>
              <a:rPr lang="en-US" dirty="0">
                <a:hlinkClick r:id="rId2" action="ppaction://hlinkfile"/>
              </a:rPr>
              <a:t>\</a:t>
            </a:r>
            <a:r>
              <a:rPr lang="en-US" dirty="0" err="1">
                <a:hlinkClick r:id="rId2" action="ppaction://hlinkfile"/>
              </a:rPr>
              <a:t>Gabe_hardin_NSS_capstone.pbix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09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4069</TotalTime>
  <Words>384</Words>
  <Application>Microsoft Office PowerPoint</Application>
  <PresentationFormat>Widescreen</PresentationFormat>
  <Paragraphs>35</Paragraphs>
  <Slides>6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Are TN counties becoming more vulnerable to extreme weather over time?</vt:lpstr>
      <vt:lpstr>Purpose</vt:lpstr>
      <vt:lpstr>Methodology</vt:lpstr>
      <vt:lpstr>Defining “damage severity”</vt:lpstr>
      <vt:lpstr>Data Modeling</vt:lpstr>
      <vt:lpstr>The Dashboard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Hardin</dc:creator>
  <cp:lastModifiedBy>Gabriel Hardin</cp:lastModifiedBy>
  <cp:revision>2</cp:revision>
  <dcterms:created xsi:type="dcterms:W3CDTF">2026-08-21T18:42:29Z</dcterms:created>
  <dcterms:modified xsi:type="dcterms:W3CDTF">2026-08-24T14:31:29Z</dcterms:modified>
</cp:coreProperties>
</file>